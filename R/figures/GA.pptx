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7" r:id="rId2"/>
  </p:sldIdLst>
  <p:sldSz cx="7559675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B8"/>
    <a:srgbClr val="8DFACE"/>
    <a:srgbClr val="F6B9C2"/>
    <a:srgbClr val="EED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55"/>
  </p:normalViewPr>
  <p:slideViewPr>
    <p:cSldViewPr snapToGrid="0">
      <p:cViewPr>
        <p:scale>
          <a:sx n="185" d="100"/>
          <a:sy n="185" d="100"/>
        </p:scale>
        <p:origin x="23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60" y="471289"/>
            <a:ext cx="5669756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1512522"/>
            <a:ext cx="5669756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2788-08F7-EF47-A65E-16A431B38602}" type="datetimeFigureOut">
              <a:rPr lang="en-TH" smtClean="0"/>
              <a:t>23/10/2026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3331-7E45-C143-8627-C007C484754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33774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2788-08F7-EF47-A65E-16A431B38602}" type="datetimeFigureOut">
              <a:rPr lang="en-TH" smtClean="0"/>
              <a:t>23/10/2026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3331-7E45-C143-8627-C007C484754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6698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0" y="717932"/>
            <a:ext cx="6520220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0" y="1927150"/>
            <a:ext cx="6520220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2788-08F7-EF47-A65E-16A431B38602}" type="datetimeFigureOut">
              <a:rPr lang="en-TH" smtClean="0"/>
              <a:t>23/10/2026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3331-7E45-C143-8627-C007C484754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11929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766593"/>
            <a:ext cx="3212862" cy="1827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766593"/>
            <a:ext cx="3212862" cy="1827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2788-08F7-EF47-A65E-16A431B38602}" type="datetimeFigureOut">
              <a:rPr lang="en-TH" smtClean="0"/>
              <a:t>23/10/2026 R</a:t>
            </a:fld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3331-7E45-C143-8627-C007C484754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7872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153319"/>
            <a:ext cx="6520220" cy="55661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2" y="705933"/>
            <a:ext cx="3198097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2" y="1051899"/>
            <a:ext cx="3198097" cy="1547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5" y="705933"/>
            <a:ext cx="3213847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5" y="1051899"/>
            <a:ext cx="3213847" cy="1547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2788-08F7-EF47-A65E-16A431B38602}" type="datetimeFigureOut">
              <a:rPr lang="en-TH" smtClean="0"/>
              <a:t>23/10/2026 R</a:t>
            </a:fld>
            <a:endParaRPr lang="en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3331-7E45-C143-8627-C007C484754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85634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2788-08F7-EF47-A65E-16A431B38602}" type="datetimeFigureOut">
              <a:rPr lang="en-TH" smtClean="0"/>
              <a:t>23/10/2026 R</a:t>
            </a:fld>
            <a:endParaRPr lang="en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3331-7E45-C143-8627-C007C484754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922413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2788-08F7-EF47-A65E-16A431B38602}" type="datetimeFigureOut">
              <a:rPr lang="en-TH" smtClean="0"/>
              <a:t>23/10/2026 R</a:t>
            </a:fld>
            <a:endParaRPr lang="en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3331-7E45-C143-8627-C007C484754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8458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191982"/>
            <a:ext cx="2438192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414627"/>
            <a:ext cx="3827085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863918"/>
            <a:ext cx="2438192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2788-08F7-EF47-A65E-16A431B38602}" type="datetimeFigureOut">
              <a:rPr lang="en-TH" smtClean="0"/>
              <a:t>23/10/2026 R</a:t>
            </a:fld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3331-7E45-C143-8627-C007C484754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175308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191982"/>
            <a:ext cx="2438192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414627"/>
            <a:ext cx="3827085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863918"/>
            <a:ext cx="2438192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2788-08F7-EF47-A65E-16A431B38602}" type="datetimeFigureOut">
              <a:rPr lang="en-TH" smtClean="0"/>
              <a:t>23/10/2026 R</a:t>
            </a:fld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3331-7E45-C143-8627-C007C484754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19578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2788-08F7-EF47-A65E-16A431B38602}" type="datetimeFigureOut">
              <a:rPr lang="en-TH" smtClean="0"/>
              <a:t>23/10/2026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3331-7E45-C143-8627-C007C484754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101814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2" y="153319"/>
            <a:ext cx="1630055" cy="24404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153319"/>
            <a:ext cx="4795669" cy="24404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12788-08F7-EF47-A65E-16A431B38602}" type="datetimeFigureOut">
              <a:rPr lang="en-TH" smtClean="0"/>
              <a:t>23/10/2026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53331-7E45-C143-8627-C007C484754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235994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153319"/>
            <a:ext cx="6520220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766593"/>
            <a:ext cx="6520220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2669079"/>
            <a:ext cx="170092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12788-08F7-EF47-A65E-16A431B38602}" type="datetimeFigureOut">
              <a:rPr lang="en-TH" smtClean="0"/>
              <a:t>23/10/2026 R</a:t>
            </a:fld>
            <a:endParaRPr lang="en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2669079"/>
            <a:ext cx="2551390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2669079"/>
            <a:ext cx="170092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53331-7E45-C143-8627-C007C4847544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06299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EF319-5FB2-8890-E6F7-79D8ACA2C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 70">
            <a:extLst>
              <a:ext uri="{FF2B5EF4-FFF2-40B4-BE49-F238E27FC236}">
                <a16:creationId xmlns:a16="http://schemas.microsoft.com/office/drawing/2014/main" id="{351FC5D5-12DA-99CC-DEC3-BB03952FE977}"/>
              </a:ext>
            </a:extLst>
          </p:cNvPr>
          <p:cNvSpPr/>
          <p:nvPr/>
        </p:nvSpPr>
        <p:spPr>
          <a:xfrm>
            <a:off x="2084429" y="1781511"/>
            <a:ext cx="355600" cy="486229"/>
          </a:xfrm>
          <a:custGeom>
            <a:avLst/>
            <a:gdLst>
              <a:gd name="csX0" fmla="*/ 0 w 355600"/>
              <a:gd name="csY0" fmla="*/ 43543 h 486229"/>
              <a:gd name="csX1" fmla="*/ 348343 w 355600"/>
              <a:gd name="csY1" fmla="*/ 0 h 486229"/>
              <a:gd name="csX2" fmla="*/ 355600 w 355600"/>
              <a:gd name="csY2" fmla="*/ 7257 h 486229"/>
              <a:gd name="csX3" fmla="*/ 0 w 355600"/>
              <a:gd name="csY3" fmla="*/ 486229 h 486229"/>
              <a:gd name="csX4" fmla="*/ 0 w 355600"/>
              <a:gd name="csY4" fmla="*/ 43543 h 4862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5600" h="486229">
                <a:moveTo>
                  <a:pt x="0" y="43543"/>
                </a:moveTo>
                <a:lnTo>
                  <a:pt x="348343" y="0"/>
                </a:lnTo>
                <a:lnTo>
                  <a:pt x="355600" y="7257"/>
                </a:lnTo>
                <a:lnTo>
                  <a:pt x="0" y="486229"/>
                </a:lnTo>
                <a:lnTo>
                  <a:pt x="0" y="43543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b="1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D7AEE6D-3BFD-D804-6D67-B6DB25A6A576}"/>
              </a:ext>
            </a:extLst>
          </p:cNvPr>
          <p:cNvSpPr/>
          <p:nvPr/>
        </p:nvSpPr>
        <p:spPr>
          <a:xfrm>
            <a:off x="430375" y="1893506"/>
            <a:ext cx="316523" cy="325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b="1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F10F859-F906-C1E7-95C0-599401496574}"/>
              </a:ext>
            </a:extLst>
          </p:cNvPr>
          <p:cNvSpPr/>
          <p:nvPr/>
        </p:nvSpPr>
        <p:spPr>
          <a:xfrm>
            <a:off x="724000" y="1893505"/>
            <a:ext cx="316523" cy="3255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b="1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A6871EE-3E06-80BB-2379-7DEEE97CEEBE}"/>
              </a:ext>
            </a:extLst>
          </p:cNvPr>
          <p:cNvSpPr/>
          <p:nvPr/>
        </p:nvSpPr>
        <p:spPr>
          <a:xfrm>
            <a:off x="1038617" y="1890575"/>
            <a:ext cx="316523" cy="325557"/>
          </a:xfrm>
          <a:prstGeom prst="rect">
            <a:avLst/>
          </a:prstGeom>
          <a:solidFill>
            <a:srgbClr val="EED6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b="1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4B6BDDE-66D4-8C59-D4AC-4B75CF477EF0}"/>
              </a:ext>
            </a:extLst>
          </p:cNvPr>
          <p:cNvSpPr/>
          <p:nvPr/>
        </p:nvSpPr>
        <p:spPr>
          <a:xfrm>
            <a:off x="429309" y="2191346"/>
            <a:ext cx="316523" cy="325557"/>
          </a:xfrm>
          <a:prstGeom prst="rect">
            <a:avLst/>
          </a:prstGeom>
          <a:solidFill>
            <a:srgbClr val="F6B9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b="1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18EFA64-726A-2A45-6AEC-E17F8A941529}"/>
              </a:ext>
            </a:extLst>
          </p:cNvPr>
          <p:cNvSpPr/>
          <p:nvPr/>
        </p:nvSpPr>
        <p:spPr>
          <a:xfrm>
            <a:off x="722934" y="2191345"/>
            <a:ext cx="316523" cy="325557"/>
          </a:xfrm>
          <a:prstGeom prst="rect">
            <a:avLst/>
          </a:prstGeom>
          <a:solidFill>
            <a:srgbClr val="8DFA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b="1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37DEF2A-F9DB-463A-AB4E-AABB23F1813F}"/>
              </a:ext>
            </a:extLst>
          </p:cNvPr>
          <p:cNvSpPr/>
          <p:nvPr/>
        </p:nvSpPr>
        <p:spPr>
          <a:xfrm>
            <a:off x="1037551" y="2188415"/>
            <a:ext cx="316523" cy="325557"/>
          </a:xfrm>
          <a:prstGeom prst="rect">
            <a:avLst/>
          </a:prstGeom>
          <a:solidFill>
            <a:srgbClr val="F8FA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b="1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6E7BE16-6008-D2DF-D9A9-4BB5EFDF1766}"/>
              </a:ext>
            </a:extLst>
          </p:cNvPr>
          <p:cNvSpPr/>
          <p:nvPr/>
        </p:nvSpPr>
        <p:spPr>
          <a:xfrm>
            <a:off x="425871" y="1588877"/>
            <a:ext cx="316523" cy="325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b="1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6A2F867-F69D-69E8-7459-774432CA819B}"/>
              </a:ext>
            </a:extLst>
          </p:cNvPr>
          <p:cNvSpPr/>
          <p:nvPr/>
        </p:nvSpPr>
        <p:spPr>
          <a:xfrm>
            <a:off x="719496" y="1588876"/>
            <a:ext cx="316523" cy="32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b="1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051D43D-CE8D-D7BF-90BF-2B3259E2E4A7}"/>
              </a:ext>
            </a:extLst>
          </p:cNvPr>
          <p:cNvSpPr/>
          <p:nvPr/>
        </p:nvSpPr>
        <p:spPr>
          <a:xfrm>
            <a:off x="1034113" y="1585946"/>
            <a:ext cx="316523" cy="325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b="1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D60C9A7D-17B8-945A-6C94-B040983648D6}"/>
              </a:ext>
            </a:extLst>
          </p:cNvPr>
          <p:cNvSpPr/>
          <p:nvPr/>
        </p:nvSpPr>
        <p:spPr>
          <a:xfrm>
            <a:off x="1029607" y="1020308"/>
            <a:ext cx="1019908" cy="574431"/>
          </a:xfrm>
          <a:custGeom>
            <a:avLst/>
            <a:gdLst>
              <a:gd name="csX0" fmla="*/ 574431 w 1019908"/>
              <a:gd name="csY0" fmla="*/ 0 h 574431"/>
              <a:gd name="csX1" fmla="*/ 0 w 1019908"/>
              <a:gd name="csY1" fmla="*/ 574431 h 574431"/>
              <a:gd name="csX2" fmla="*/ 304800 w 1019908"/>
              <a:gd name="csY2" fmla="*/ 568569 h 574431"/>
              <a:gd name="csX3" fmla="*/ 1019908 w 1019908"/>
              <a:gd name="csY3" fmla="*/ 5861 h 574431"/>
              <a:gd name="csX4" fmla="*/ 574431 w 1019908"/>
              <a:gd name="csY4" fmla="*/ 0 h 5744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019908" h="574431">
                <a:moveTo>
                  <a:pt x="574431" y="0"/>
                </a:moveTo>
                <a:lnTo>
                  <a:pt x="0" y="574431"/>
                </a:lnTo>
                <a:lnTo>
                  <a:pt x="304800" y="568569"/>
                </a:lnTo>
                <a:lnTo>
                  <a:pt x="1019908" y="5861"/>
                </a:lnTo>
                <a:lnTo>
                  <a:pt x="574431" y="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b="1" dirty="0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877CC46B-9C21-0874-239E-70ED9623BC2C}"/>
              </a:ext>
            </a:extLst>
          </p:cNvPr>
          <p:cNvSpPr/>
          <p:nvPr/>
        </p:nvSpPr>
        <p:spPr>
          <a:xfrm>
            <a:off x="742392" y="1014446"/>
            <a:ext cx="756138" cy="574431"/>
          </a:xfrm>
          <a:custGeom>
            <a:avLst/>
            <a:gdLst>
              <a:gd name="csX0" fmla="*/ 304800 w 756138"/>
              <a:gd name="csY0" fmla="*/ 0 h 574431"/>
              <a:gd name="csX1" fmla="*/ 0 w 756138"/>
              <a:gd name="csY1" fmla="*/ 568570 h 574431"/>
              <a:gd name="csX2" fmla="*/ 281354 w 756138"/>
              <a:gd name="csY2" fmla="*/ 574431 h 574431"/>
              <a:gd name="csX3" fmla="*/ 756138 w 756138"/>
              <a:gd name="csY3" fmla="*/ 5862 h 574431"/>
              <a:gd name="csX4" fmla="*/ 304800 w 756138"/>
              <a:gd name="csY4" fmla="*/ 0 h 5744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56138" h="574431">
                <a:moveTo>
                  <a:pt x="304800" y="0"/>
                </a:moveTo>
                <a:lnTo>
                  <a:pt x="0" y="568570"/>
                </a:lnTo>
                <a:lnTo>
                  <a:pt x="281354" y="574431"/>
                </a:lnTo>
                <a:lnTo>
                  <a:pt x="756138" y="5862"/>
                </a:lnTo>
                <a:lnTo>
                  <a:pt x="30480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b="1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826FC761-010C-DAA0-88F5-F0864EACE455}"/>
              </a:ext>
            </a:extLst>
          </p:cNvPr>
          <p:cNvSpPr/>
          <p:nvPr/>
        </p:nvSpPr>
        <p:spPr>
          <a:xfrm>
            <a:off x="425869" y="1020308"/>
            <a:ext cx="509954" cy="568569"/>
          </a:xfrm>
          <a:custGeom>
            <a:avLst/>
            <a:gdLst>
              <a:gd name="csX0" fmla="*/ 41031 w 509954"/>
              <a:gd name="csY0" fmla="*/ 0 h 568569"/>
              <a:gd name="csX1" fmla="*/ 0 w 509954"/>
              <a:gd name="csY1" fmla="*/ 562708 h 568569"/>
              <a:gd name="csX2" fmla="*/ 304800 w 509954"/>
              <a:gd name="csY2" fmla="*/ 568569 h 568569"/>
              <a:gd name="csX3" fmla="*/ 509954 w 509954"/>
              <a:gd name="csY3" fmla="*/ 5861 h 568569"/>
              <a:gd name="csX4" fmla="*/ 41031 w 509954"/>
              <a:gd name="csY4" fmla="*/ 0 h 5685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9954" h="568569">
                <a:moveTo>
                  <a:pt x="41031" y="0"/>
                </a:moveTo>
                <a:lnTo>
                  <a:pt x="0" y="562708"/>
                </a:lnTo>
                <a:lnTo>
                  <a:pt x="304800" y="568569"/>
                </a:lnTo>
                <a:lnTo>
                  <a:pt x="509954" y="5861"/>
                </a:lnTo>
                <a:lnTo>
                  <a:pt x="41031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b="1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07CECB-5A76-A134-5188-AC14949FC8AE}"/>
              </a:ext>
            </a:extLst>
          </p:cNvPr>
          <p:cNvSpPr txBox="1"/>
          <p:nvPr/>
        </p:nvSpPr>
        <p:spPr>
          <a:xfrm>
            <a:off x="3443281" y="340360"/>
            <a:ext cx="1521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b="1" dirty="0"/>
              <a:t>A lot of this variation was </a:t>
            </a:r>
          </a:p>
          <a:p>
            <a:pPr algn="ctr"/>
            <a:r>
              <a:rPr lang="en-US" sz="900" b="1" dirty="0">
                <a:solidFill>
                  <a:srgbClr val="00B050"/>
                </a:solidFill>
              </a:rPr>
              <a:t>Source-associated</a:t>
            </a:r>
            <a:endParaRPr lang="en-TH" sz="900" b="1" dirty="0">
              <a:solidFill>
                <a:srgbClr val="00B05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B326F60-0E84-B359-3214-19884CAEA2CE}"/>
              </a:ext>
            </a:extLst>
          </p:cNvPr>
          <p:cNvGrpSpPr/>
          <p:nvPr/>
        </p:nvGrpSpPr>
        <p:grpSpPr>
          <a:xfrm>
            <a:off x="172524" y="1596652"/>
            <a:ext cx="2979292" cy="1204253"/>
            <a:chOff x="3536052" y="1869925"/>
            <a:chExt cx="2979292" cy="1204253"/>
          </a:xfrm>
        </p:grpSpPr>
        <p:sp>
          <p:nvSpPr>
            <p:cNvPr id="176" name="Trapezoid 175">
              <a:extLst>
                <a:ext uri="{FF2B5EF4-FFF2-40B4-BE49-F238E27FC236}">
                  <a16:creationId xmlns:a16="http://schemas.microsoft.com/office/drawing/2014/main" id="{34F9989F-EF60-4691-AF6F-5417370112CD}"/>
                </a:ext>
              </a:extLst>
            </p:cNvPr>
            <p:cNvSpPr/>
            <p:nvPr/>
          </p:nvSpPr>
          <p:spPr>
            <a:xfrm rot="5400000">
              <a:off x="4417053" y="2175717"/>
              <a:ext cx="884615" cy="294208"/>
            </a:xfrm>
            <a:prstGeom prst="trapezoid">
              <a:avLst>
                <a:gd name="adj" fmla="val 81811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1190" b="1"/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BC334183-5709-7DFA-5D5F-69D8245A32D8}"/>
                </a:ext>
              </a:extLst>
            </p:cNvPr>
            <p:cNvGrpSpPr/>
            <p:nvPr/>
          </p:nvGrpSpPr>
          <p:grpSpPr>
            <a:xfrm>
              <a:off x="4910217" y="1908158"/>
              <a:ext cx="638316" cy="636371"/>
              <a:chOff x="4531927" y="3302987"/>
              <a:chExt cx="965324" cy="962382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1DAAD73-427A-6417-D303-E0812C2F1C54}"/>
                  </a:ext>
                </a:extLst>
              </p:cNvPr>
              <p:cNvSpPr/>
              <p:nvPr/>
            </p:nvSpPr>
            <p:spPr>
              <a:xfrm>
                <a:off x="4681348" y="3598887"/>
                <a:ext cx="666482" cy="666482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661" b="1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5DBB3A3-C9C4-A5BC-23C3-0D8D782F31D8}"/>
                  </a:ext>
                </a:extLst>
              </p:cNvPr>
              <p:cNvSpPr txBox="1"/>
              <p:nvPr/>
            </p:nvSpPr>
            <p:spPr>
              <a:xfrm>
                <a:off x="4531927" y="3302987"/>
                <a:ext cx="965324" cy="3088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TH" sz="727" b="1" dirty="0">
                    <a:solidFill>
                      <a:srgbClr val="00B050"/>
                    </a:solidFill>
                  </a:rPr>
                  <a:t>New Study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8A07DD7-669A-F72F-6D8D-A3C3042F4E00}"/>
                  </a:ext>
                </a:extLst>
              </p:cNvPr>
              <p:cNvSpPr/>
              <p:nvPr/>
            </p:nvSpPr>
            <p:spPr>
              <a:xfrm>
                <a:off x="5141180" y="4043045"/>
                <a:ext cx="111815" cy="111815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661" b="1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64000EA-9310-18E1-4A5B-449E6766B34C}"/>
                  </a:ext>
                </a:extLst>
              </p:cNvPr>
              <p:cNvSpPr/>
              <p:nvPr/>
            </p:nvSpPr>
            <p:spPr>
              <a:xfrm>
                <a:off x="4814595" y="3766209"/>
                <a:ext cx="111815" cy="111815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661" b="1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19FE0313-AF34-8614-D237-16ECFD454CFA}"/>
                  </a:ext>
                </a:extLst>
              </p:cNvPr>
              <p:cNvSpPr/>
              <p:nvPr/>
            </p:nvSpPr>
            <p:spPr>
              <a:xfrm>
                <a:off x="5069085" y="3734206"/>
                <a:ext cx="111815" cy="111815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661" b="1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4E148B05-A0A4-3717-2046-02C2AF348425}"/>
                  </a:ext>
                </a:extLst>
              </p:cNvPr>
              <p:cNvSpPr/>
              <p:nvPr/>
            </p:nvSpPr>
            <p:spPr>
              <a:xfrm>
                <a:off x="4868532" y="3959882"/>
                <a:ext cx="111815" cy="111815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661" b="1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CB43DFE0-3B02-19E9-217F-9A74F95C1783}"/>
                </a:ext>
              </a:extLst>
            </p:cNvPr>
            <p:cNvGrpSpPr/>
            <p:nvPr/>
          </p:nvGrpSpPr>
          <p:grpSpPr>
            <a:xfrm>
              <a:off x="4951671" y="2587499"/>
              <a:ext cx="1563673" cy="326227"/>
              <a:chOff x="422059" y="4423285"/>
              <a:chExt cx="2364738" cy="493351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E76BBA5-F180-F8ED-2C10-206FC5B84C5E}"/>
                  </a:ext>
                </a:extLst>
              </p:cNvPr>
              <p:cNvSpPr/>
              <p:nvPr/>
            </p:nvSpPr>
            <p:spPr>
              <a:xfrm>
                <a:off x="422059" y="4491349"/>
                <a:ext cx="111815" cy="111815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661" b="1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C40320BC-701B-D0D6-AC6B-127810A32632}"/>
                  </a:ext>
                </a:extLst>
              </p:cNvPr>
              <p:cNvSpPr/>
              <p:nvPr/>
            </p:nvSpPr>
            <p:spPr>
              <a:xfrm>
                <a:off x="422059" y="4672631"/>
                <a:ext cx="111815" cy="111815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661" b="1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AD14F64-0441-5824-6A84-DB90FF2CA9C2}"/>
                  </a:ext>
                </a:extLst>
              </p:cNvPr>
              <p:cNvSpPr txBox="1"/>
              <p:nvPr/>
            </p:nvSpPr>
            <p:spPr>
              <a:xfrm>
                <a:off x="480883" y="4423285"/>
                <a:ext cx="2305914" cy="2934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H" sz="661" b="1" dirty="0"/>
                  <a:t>= </a:t>
                </a:r>
                <a:r>
                  <a:rPr lang="en-TH" sz="661" b="1" dirty="0">
                    <a:solidFill>
                      <a:srgbClr val="FF0000"/>
                    </a:solidFill>
                  </a:rPr>
                  <a:t>Anchor compound </a:t>
                </a:r>
                <a:r>
                  <a:rPr lang="en-TH" sz="661" b="1" dirty="0"/>
                  <a:t>for calibration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FB6D383-737A-6A75-262A-2BCE39D2FD77}"/>
                  </a:ext>
                </a:extLst>
              </p:cNvPr>
              <p:cNvSpPr txBox="1"/>
              <p:nvPr/>
            </p:nvSpPr>
            <p:spPr>
              <a:xfrm>
                <a:off x="479048" y="4623210"/>
                <a:ext cx="1583499" cy="2934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H" sz="661" b="1" dirty="0"/>
                  <a:t>= Unknown compound</a:t>
                </a: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00F58E10-B6B0-130A-188B-00E0A46D0574}"/>
                </a:ext>
              </a:extLst>
            </p:cNvPr>
            <p:cNvGrpSpPr/>
            <p:nvPr/>
          </p:nvGrpSpPr>
          <p:grpSpPr>
            <a:xfrm>
              <a:off x="3536052" y="1869925"/>
              <a:ext cx="1420582" cy="1204253"/>
              <a:chOff x="1957879" y="3376989"/>
              <a:chExt cx="2148341" cy="1821187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EDA31F9-0BB2-F788-662B-BB3C9516F7DC}"/>
                  </a:ext>
                </a:extLst>
              </p:cNvPr>
              <p:cNvGrpSpPr/>
              <p:nvPr/>
            </p:nvGrpSpPr>
            <p:grpSpPr>
              <a:xfrm>
                <a:off x="2349110" y="3376989"/>
                <a:ext cx="1365879" cy="1370193"/>
                <a:chOff x="4363731" y="3761117"/>
                <a:chExt cx="2428229" cy="2435898"/>
              </a:xfrm>
            </p:grpSpPr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F65C3EF8-5C45-7953-27B2-571C520A17CB}"/>
                    </a:ext>
                  </a:extLst>
                </p:cNvPr>
                <p:cNvGrpSpPr/>
                <p:nvPr/>
              </p:nvGrpSpPr>
              <p:grpSpPr>
                <a:xfrm>
                  <a:off x="4363731" y="3761117"/>
                  <a:ext cx="2428229" cy="2435898"/>
                  <a:chOff x="4363731" y="3761117"/>
                  <a:chExt cx="2428229" cy="2435898"/>
                </a:xfrm>
              </p:grpSpPr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6218F488-E1B9-AF70-3541-258734E2853C}"/>
                      </a:ext>
                    </a:extLst>
                  </p:cNvPr>
                  <p:cNvSpPr/>
                  <p:nvPr/>
                </p:nvSpPr>
                <p:spPr>
                  <a:xfrm>
                    <a:off x="4363731" y="3761117"/>
                    <a:ext cx="2428229" cy="2428229"/>
                  </a:xfrm>
                  <a:prstGeom prst="rect">
                    <a:avLst/>
                  </a:prstGeom>
                  <a:noFill/>
                  <a:ln w="38100">
                    <a:solidFill>
                      <a:srgbClr val="00B05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TH" sz="661" b="1" dirty="0"/>
                  </a:p>
                </p:txBody>
              </p: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570CCBD0-21A6-0058-9ED7-6AF50ECFC0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82551" y="3761117"/>
                    <a:ext cx="0" cy="243589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136FF908-1593-E4BD-9B0B-25D9C66EE2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73141" y="3761117"/>
                    <a:ext cx="0" cy="243589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4FF7128B-1202-B1AD-4A93-1E49BF929CA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731" y="4588918"/>
                    <a:ext cx="2428229" cy="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0AE4E809-C2F9-DD66-596F-39751A59B7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63731" y="5398328"/>
                    <a:ext cx="2428229" cy="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accent6"/>
                  </a:lnRef>
                  <a:fillRef idx="0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8EEA4832-6579-FFD9-7921-49C67BAA4A30}"/>
                    </a:ext>
                  </a:extLst>
                </p:cNvPr>
                <p:cNvSpPr/>
                <p:nvPr/>
              </p:nvSpPr>
              <p:spPr>
                <a:xfrm>
                  <a:off x="4565774" y="4056896"/>
                  <a:ext cx="147287" cy="147287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E60B2671-C833-6633-8297-D0CDC815AE6B}"/>
                    </a:ext>
                  </a:extLst>
                </p:cNvPr>
                <p:cNvSpPr/>
                <p:nvPr/>
              </p:nvSpPr>
              <p:spPr>
                <a:xfrm>
                  <a:off x="4602561" y="5820033"/>
                  <a:ext cx="147287" cy="147287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CAE98F2F-063A-6D9D-5B17-1DF91D00DEF5}"/>
                    </a:ext>
                  </a:extLst>
                </p:cNvPr>
                <p:cNvSpPr/>
                <p:nvPr/>
              </p:nvSpPr>
              <p:spPr>
                <a:xfrm>
                  <a:off x="5504201" y="4755693"/>
                  <a:ext cx="147287" cy="147287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8D314B00-420A-4BBD-3C6C-2D8BB2F8CBE4}"/>
                    </a:ext>
                  </a:extLst>
                </p:cNvPr>
                <p:cNvSpPr/>
                <p:nvPr/>
              </p:nvSpPr>
              <p:spPr>
                <a:xfrm>
                  <a:off x="5262217" y="5541467"/>
                  <a:ext cx="147287" cy="147287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4F7F4356-7B85-6EE3-217A-40836C8E8807}"/>
                    </a:ext>
                  </a:extLst>
                </p:cNvPr>
                <p:cNvSpPr/>
                <p:nvPr/>
              </p:nvSpPr>
              <p:spPr>
                <a:xfrm>
                  <a:off x="6125180" y="5181546"/>
                  <a:ext cx="147287" cy="147287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D8DEFD3C-3867-6E9A-DBB3-1EA5BD0EA943}"/>
                    </a:ext>
                  </a:extLst>
                </p:cNvPr>
                <p:cNvSpPr/>
                <p:nvPr/>
              </p:nvSpPr>
              <p:spPr>
                <a:xfrm>
                  <a:off x="6302381" y="4871524"/>
                  <a:ext cx="147287" cy="147287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55A8EF6D-92FE-C847-8FBC-E4819B8ABE58}"/>
                    </a:ext>
                  </a:extLst>
                </p:cNvPr>
                <p:cNvSpPr/>
                <p:nvPr/>
              </p:nvSpPr>
              <p:spPr>
                <a:xfrm>
                  <a:off x="6295266" y="5846267"/>
                  <a:ext cx="147287" cy="147287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A5061BF7-8C2E-24F1-B72D-A44C76F1C867}"/>
                    </a:ext>
                  </a:extLst>
                </p:cNvPr>
                <p:cNvSpPr/>
                <p:nvPr/>
              </p:nvSpPr>
              <p:spPr>
                <a:xfrm>
                  <a:off x="4826581" y="4238409"/>
                  <a:ext cx="147287" cy="14728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C4DEF72F-5CFD-145A-976D-7E4B38D80790}"/>
                    </a:ext>
                  </a:extLst>
                </p:cNvPr>
                <p:cNvSpPr/>
                <p:nvPr/>
              </p:nvSpPr>
              <p:spPr>
                <a:xfrm>
                  <a:off x="5570441" y="4083093"/>
                  <a:ext cx="147287" cy="147287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5469E0A1-8DD4-F623-EC91-B3A78B9DF0F9}"/>
                    </a:ext>
                  </a:extLst>
                </p:cNvPr>
                <p:cNvSpPr/>
                <p:nvPr/>
              </p:nvSpPr>
              <p:spPr>
                <a:xfrm>
                  <a:off x="4650318" y="4916943"/>
                  <a:ext cx="147287" cy="14728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29730A3A-700F-00E0-230F-8BCD33BA0A61}"/>
                    </a:ext>
                  </a:extLst>
                </p:cNvPr>
                <p:cNvSpPr/>
                <p:nvPr/>
              </p:nvSpPr>
              <p:spPr>
                <a:xfrm>
                  <a:off x="5335860" y="4313759"/>
                  <a:ext cx="147287" cy="14728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38F7BE22-BF96-E22B-A8A1-13C6A2AF16C0}"/>
                    </a:ext>
                  </a:extLst>
                </p:cNvPr>
                <p:cNvSpPr/>
                <p:nvPr/>
              </p:nvSpPr>
              <p:spPr>
                <a:xfrm>
                  <a:off x="6281537" y="4240115"/>
                  <a:ext cx="147287" cy="147287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4786368E-0268-962D-36A4-24F5BF40719D}"/>
                    </a:ext>
                  </a:extLst>
                </p:cNvPr>
                <p:cNvSpPr/>
                <p:nvPr/>
              </p:nvSpPr>
              <p:spPr>
                <a:xfrm>
                  <a:off x="4848554" y="5093014"/>
                  <a:ext cx="147287" cy="14728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0C5BD491-1044-D4F6-20B4-8877BC591966}"/>
                    </a:ext>
                  </a:extLst>
                </p:cNvPr>
                <p:cNvSpPr/>
                <p:nvPr/>
              </p:nvSpPr>
              <p:spPr>
                <a:xfrm>
                  <a:off x="6121652" y="3909609"/>
                  <a:ext cx="147287" cy="14728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25266104-F566-EC0B-E230-30E1D46519A1}"/>
                    </a:ext>
                  </a:extLst>
                </p:cNvPr>
                <p:cNvSpPr/>
                <p:nvPr/>
              </p:nvSpPr>
              <p:spPr>
                <a:xfrm>
                  <a:off x="4728937" y="5541467"/>
                  <a:ext cx="147287" cy="14728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1D359973-63A3-FBE2-65E5-F815A239D68F}"/>
                    </a:ext>
                  </a:extLst>
                </p:cNvPr>
                <p:cNvSpPr/>
                <p:nvPr/>
              </p:nvSpPr>
              <p:spPr>
                <a:xfrm>
                  <a:off x="6515323" y="5139901"/>
                  <a:ext cx="147287" cy="14728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B49636BD-8CA9-2B78-B14C-677D5C77F4BF}"/>
                    </a:ext>
                  </a:extLst>
                </p:cNvPr>
                <p:cNvSpPr/>
                <p:nvPr/>
              </p:nvSpPr>
              <p:spPr>
                <a:xfrm>
                  <a:off x="5570441" y="5945670"/>
                  <a:ext cx="147287" cy="14728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EED83449-3F4B-1B5C-8F7B-D776014C6043}"/>
                    </a:ext>
                  </a:extLst>
                </p:cNvPr>
                <p:cNvSpPr/>
                <p:nvPr/>
              </p:nvSpPr>
              <p:spPr>
                <a:xfrm>
                  <a:off x="5740981" y="5152809"/>
                  <a:ext cx="147287" cy="14728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25F574A3-DCC1-66E7-735F-999F92B5A59C}"/>
                    </a:ext>
                  </a:extLst>
                </p:cNvPr>
                <p:cNvSpPr/>
                <p:nvPr/>
              </p:nvSpPr>
              <p:spPr>
                <a:xfrm>
                  <a:off x="5675312" y="5544834"/>
                  <a:ext cx="147287" cy="14728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C3E0656D-CFB9-4617-B348-A60D2CCC795E}"/>
                    </a:ext>
                  </a:extLst>
                </p:cNvPr>
                <p:cNvSpPr/>
                <p:nvPr/>
              </p:nvSpPr>
              <p:spPr>
                <a:xfrm>
                  <a:off x="6128624" y="5569785"/>
                  <a:ext cx="147287" cy="14728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C361CCFE-9099-30C6-34DA-CC067CCD82E1}"/>
                    </a:ext>
                  </a:extLst>
                </p:cNvPr>
                <p:cNvSpPr/>
                <p:nvPr/>
              </p:nvSpPr>
              <p:spPr>
                <a:xfrm>
                  <a:off x="6555599" y="5615110"/>
                  <a:ext cx="147287" cy="14728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1C5F6FD0-A358-E520-435D-9C3ABA00B122}"/>
                  </a:ext>
                </a:extLst>
              </p:cNvPr>
              <p:cNvSpPr txBox="1"/>
              <p:nvPr/>
            </p:nvSpPr>
            <p:spPr>
              <a:xfrm>
                <a:off x="1957879" y="4750957"/>
                <a:ext cx="2148341" cy="4472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TH" sz="661" b="1" dirty="0"/>
                  <a:t>Training database</a:t>
                </a:r>
              </a:p>
              <a:p>
                <a:pPr algn="ctr"/>
                <a:r>
                  <a:rPr lang="en-TH" sz="661" b="1" dirty="0"/>
                  <a:t>compiled from multiple sources</a:t>
                </a: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D435BA12-78BE-E231-9C56-EC0C9ADC246C}"/>
              </a:ext>
            </a:extLst>
          </p:cNvPr>
          <p:cNvGrpSpPr/>
          <p:nvPr/>
        </p:nvGrpSpPr>
        <p:grpSpPr>
          <a:xfrm>
            <a:off x="2527064" y="25029"/>
            <a:ext cx="1175322" cy="1327017"/>
            <a:chOff x="3262019" y="217839"/>
            <a:chExt cx="1777436" cy="2006842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937169A-4A8C-F6CA-5B12-B769E03FE294}"/>
                </a:ext>
              </a:extLst>
            </p:cNvPr>
            <p:cNvSpPr/>
            <p:nvPr/>
          </p:nvSpPr>
          <p:spPr>
            <a:xfrm>
              <a:off x="3547233" y="693031"/>
              <a:ext cx="1207008" cy="1207008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661" b="1"/>
            </a:p>
          </p:txBody>
        </p:sp>
        <p:sp>
          <p:nvSpPr>
            <p:cNvPr id="49" name="Pie 48">
              <a:extLst>
                <a:ext uri="{FF2B5EF4-FFF2-40B4-BE49-F238E27FC236}">
                  <a16:creationId xmlns:a16="http://schemas.microsoft.com/office/drawing/2014/main" id="{06EC96B8-627E-E7A8-7CF3-BC0B33073166}"/>
                </a:ext>
              </a:extLst>
            </p:cNvPr>
            <p:cNvSpPr/>
            <p:nvPr/>
          </p:nvSpPr>
          <p:spPr>
            <a:xfrm>
              <a:off x="3547233" y="693031"/>
              <a:ext cx="1207008" cy="1207008"/>
            </a:xfrm>
            <a:prstGeom prst="pie">
              <a:avLst>
                <a:gd name="adj1" fmla="val 1789625"/>
                <a:gd name="adj2" fmla="val 17146031"/>
              </a:avLst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661" b="1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C1709E-85A1-143A-84DA-EEFCC07A2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50737" y="693031"/>
              <a:ext cx="0" cy="120700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Pie 43">
              <a:extLst>
                <a:ext uri="{FF2B5EF4-FFF2-40B4-BE49-F238E27FC236}">
                  <a16:creationId xmlns:a16="http://schemas.microsoft.com/office/drawing/2014/main" id="{947FC39A-3693-6269-724B-BAB3B1EB51D9}"/>
                </a:ext>
              </a:extLst>
            </p:cNvPr>
            <p:cNvSpPr/>
            <p:nvPr/>
          </p:nvSpPr>
          <p:spPr>
            <a:xfrm>
              <a:off x="3547233" y="693031"/>
              <a:ext cx="1207008" cy="1207008"/>
            </a:xfrm>
            <a:prstGeom prst="pie">
              <a:avLst>
                <a:gd name="adj1" fmla="val 1789625"/>
                <a:gd name="adj2" fmla="val 1620000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661" b="1">
                <a:solidFill>
                  <a:schemeClr val="tx1"/>
                </a:solidFill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E301134-2C7B-A9B3-DC25-711607AF5661}"/>
                </a:ext>
              </a:extLst>
            </p:cNvPr>
            <p:cNvSpPr txBox="1"/>
            <p:nvPr/>
          </p:nvSpPr>
          <p:spPr>
            <a:xfrm rot="2242135">
              <a:off x="3538259" y="1314715"/>
              <a:ext cx="873203" cy="2792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sz="600" b="1" dirty="0">
                  <a:solidFill>
                    <a:schemeClr val="bg1"/>
                  </a:solidFill>
                </a:rPr>
                <a:t>Compound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36D779C0-2DF5-14A3-E76E-8DA8FFE97F9F}"/>
                </a:ext>
              </a:extLst>
            </p:cNvPr>
            <p:cNvSpPr txBox="1"/>
            <p:nvPr/>
          </p:nvSpPr>
          <p:spPr>
            <a:xfrm rot="17648738">
              <a:off x="4006812" y="369353"/>
              <a:ext cx="582297" cy="2792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sz="600" b="1" dirty="0"/>
                <a:t>Other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C2488DF-E4E9-8727-D437-DFBD486669E0}"/>
                </a:ext>
              </a:extLst>
            </p:cNvPr>
            <p:cNvSpPr txBox="1"/>
            <p:nvPr/>
          </p:nvSpPr>
          <p:spPr>
            <a:xfrm>
              <a:off x="4150098" y="1062089"/>
              <a:ext cx="657447" cy="2792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TH" sz="600" b="1" dirty="0">
                  <a:solidFill>
                    <a:schemeClr val="bg1"/>
                  </a:solidFill>
                </a:rPr>
                <a:t>Source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D127377-62B2-D2ED-B39B-AAD372DB063B}"/>
                </a:ext>
              </a:extLst>
            </p:cNvPr>
            <p:cNvSpPr txBox="1"/>
            <p:nvPr/>
          </p:nvSpPr>
          <p:spPr>
            <a:xfrm>
              <a:off x="3262019" y="1898866"/>
              <a:ext cx="1777436" cy="3258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TH" sz="800" b="1" dirty="0"/>
                <a:t>Variance Component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E8FF48E-6304-99C3-7527-C67094064AA9}"/>
              </a:ext>
            </a:extLst>
          </p:cNvPr>
          <p:cNvGrpSpPr/>
          <p:nvPr/>
        </p:nvGrpSpPr>
        <p:grpSpPr>
          <a:xfrm>
            <a:off x="4993136" y="233066"/>
            <a:ext cx="2320271" cy="586135"/>
            <a:chOff x="3264430" y="2103748"/>
            <a:chExt cx="3508938" cy="886410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5F15B73-EB3C-38D6-7179-552FA83318C4}"/>
                </a:ext>
              </a:extLst>
            </p:cNvPr>
            <p:cNvSpPr txBox="1"/>
            <p:nvPr/>
          </p:nvSpPr>
          <p:spPr>
            <a:xfrm>
              <a:off x="3534491" y="2280100"/>
              <a:ext cx="2873182" cy="5585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b="1" dirty="0"/>
                <a:t>Adding estimated </a:t>
              </a:r>
              <a:r>
                <a:rPr lang="en-US" sz="900" b="1" dirty="0">
                  <a:solidFill>
                    <a:srgbClr val="00B050"/>
                  </a:solidFill>
                </a:rPr>
                <a:t>Source effects</a:t>
              </a:r>
            </a:p>
            <a:p>
              <a:pPr algn="ctr"/>
              <a:r>
                <a:rPr lang="en-US" sz="900" b="1" dirty="0"/>
                <a:t>improved prediction</a:t>
              </a:r>
              <a:endParaRPr lang="en-TH" sz="900" b="1" dirty="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25992C2C-AAD0-89FA-8192-589DF03C3CE3}"/>
                </a:ext>
              </a:extLst>
            </p:cNvPr>
            <p:cNvSpPr/>
            <p:nvPr/>
          </p:nvSpPr>
          <p:spPr>
            <a:xfrm>
              <a:off x="3264430" y="2103748"/>
              <a:ext cx="3508938" cy="8864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1190" b="1" dirty="0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9677BCD-ED5B-578C-A1EE-E084B1077C94}"/>
              </a:ext>
            </a:extLst>
          </p:cNvPr>
          <p:cNvGrpSpPr/>
          <p:nvPr/>
        </p:nvGrpSpPr>
        <p:grpSpPr>
          <a:xfrm>
            <a:off x="6970649" y="505947"/>
            <a:ext cx="151161" cy="151161"/>
            <a:chOff x="5265439" y="1782444"/>
            <a:chExt cx="228600" cy="228600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48F2DFBC-C8FD-7C48-3FC4-481F6BAEDB90}"/>
                </a:ext>
              </a:extLst>
            </p:cNvPr>
            <p:cNvSpPr/>
            <p:nvPr/>
          </p:nvSpPr>
          <p:spPr>
            <a:xfrm>
              <a:off x="5265439" y="1782444"/>
              <a:ext cx="228600" cy="22860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1190" b="1"/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41F3105C-B0B9-8B46-8A1E-E3C8D0CEF1CD}"/>
                </a:ext>
              </a:extLst>
            </p:cNvPr>
            <p:cNvGrpSpPr/>
            <p:nvPr/>
          </p:nvGrpSpPr>
          <p:grpSpPr>
            <a:xfrm>
              <a:off x="5306080" y="1844675"/>
              <a:ext cx="147318" cy="45719"/>
              <a:chOff x="5308600" y="1851025"/>
              <a:chExt cx="147318" cy="45719"/>
            </a:xfrm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F83A79B3-0C47-E63E-9AB1-D94A1529D84C}"/>
                  </a:ext>
                </a:extLst>
              </p:cNvPr>
              <p:cNvSpPr/>
              <p:nvPr/>
            </p:nvSpPr>
            <p:spPr>
              <a:xfrm>
                <a:off x="5308600" y="1851025"/>
                <a:ext cx="45719" cy="4571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1190" b="1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049EC09E-775F-75A7-BD09-C92AFE1322F2}"/>
                  </a:ext>
                </a:extLst>
              </p:cNvPr>
              <p:cNvSpPr/>
              <p:nvPr/>
            </p:nvSpPr>
            <p:spPr>
              <a:xfrm>
                <a:off x="5410199" y="1851025"/>
                <a:ext cx="45719" cy="4571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1190" b="1"/>
              </a:p>
            </p:txBody>
          </p:sp>
        </p:grpSp>
        <p:sp>
          <p:nvSpPr>
            <p:cNvPr id="131" name="Block Arc 130">
              <a:extLst>
                <a:ext uri="{FF2B5EF4-FFF2-40B4-BE49-F238E27FC236}">
                  <a16:creationId xmlns:a16="http://schemas.microsoft.com/office/drawing/2014/main" id="{DB5E6A52-AC1E-B492-D3CF-8A2E30347044}"/>
                </a:ext>
              </a:extLst>
            </p:cNvPr>
            <p:cNvSpPr/>
            <p:nvPr/>
          </p:nvSpPr>
          <p:spPr>
            <a:xfrm rot="10800000">
              <a:off x="5302468" y="1851025"/>
              <a:ext cx="154540" cy="134829"/>
            </a:xfrm>
            <a:prstGeom prst="blockArc">
              <a:avLst>
                <a:gd name="adj1" fmla="val 10800000"/>
                <a:gd name="adj2" fmla="val 521302"/>
                <a:gd name="adj3" fmla="val 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1190" b="1">
                <a:solidFill>
                  <a:schemeClr val="tx1"/>
                </a:solidFill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52743E2A-5684-87BF-371E-27F4506F10F6}"/>
              </a:ext>
            </a:extLst>
          </p:cNvPr>
          <p:cNvGrpSpPr/>
          <p:nvPr/>
        </p:nvGrpSpPr>
        <p:grpSpPr>
          <a:xfrm>
            <a:off x="5213420" y="2002358"/>
            <a:ext cx="1778051" cy="669328"/>
            <a:chOff x="4369919" y="5884241"/>
            <a:chExt cx="2688941" cy="1012223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87891823-648F-5483-88AB-6187B66D1599}"/>
                </a:ext>
              </a:extLst>
            </p:cNvPr>
            <p:cNvSpPr/>
            <p:nvPr/>
          </p:nvSpPr>
          <p:spPr>
            <a:xfrm>
              <a:off x="4640332" y="5884241"/>
              <a:ext cx="666482" cy="666482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661" b="1" dirty="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45BD88FB-FB11-54B4-E4CE-40863F4FAE46}"/>
                </a:ext>
              </a:extLst>
            </p:cNvPr>
            <p:cNvSpPr/>
            <p:nvPr/>
          </p:nvSpPr>
          <p:spPr>
            <a:xfrm>
              <a:off x="4966758" y="6339986"/>
              <a:ext cx="111815" cy="111815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661" b="1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779D2DF-7C13-3A3C-9249-DBB0A4D3D24C}"/>
                </a:ext>
              </a:extLst>
            </p:cNvPr>
            <p:cNvSpPr/>
            <p:nvPr/>
          </p:nvSpPr>
          <p:spPr>
            <a:xfrm>
              <a:off x="4784024" y="5971025"/>
              <a:ext cx="111815" cy="111815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661" b="1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708AA75D-3B78-928E-75A4-A3FA73387B7E}"/>
                </a:ext>
              </a:extLst>
            </p:cNvPr>
            <p:cNvSpPr/>
            <p:nvPr/>
          </p:nvSpPr>
          <p:spPr>
            <a:xfrm>
              <a:off x="5086189" y="6088109"/>
              <a:ext cx="111815" cy="111815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661" b="1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CFF03092-EF3C-BDD9-9BFA-0FFF94ECA516}"/>
                </a:ext>
              </a:extLst>
            </p:cNvPr>
            <p:cNvSpPr/>
            <p:nvPr/>
          </p:nvSpPr>
          <p:spPr>
            <a:xfrm>
              <a:off x="4764569" y="6212073"/>
              <a:ext cx="111815" cy="111815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661" b="1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4AD9085-F5E5-9349-9910-1EE34FFF1027}"/>
                </a:ext>
              </a:extLst>
            </p:cNvPr>
            <p:cNvSpPr txBox="1"/>
            <p:nvPr/>
          </p:nvSpPr>
          <p:spPr>
            <a:xfrm>
              <a:off x="4369919" y="6547377"/>
              <a:ext cx="2688941" cy="3490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TH" sz="900" b="1" dirty="0"/>
                <a:t>Having more </a:t>
              </a:r>
              <a:r>
                <a:rPr lang="en-TH" sz="900" b="1" dirty="0">
                  <a:solidFill>
                    <a:srgbClr val="FF0000"/>
                  </a:solidFill>
                </a:rPr>
                <a:t>Anchors</a:t>
              </a:r>
              <a:r>
                <a:rPr lang="en-TH" sz="900" b="1" dirty="0"/>
                <a:t> can help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53D37FEF-D149-F45E-1142-9841E74D37F5}"/>
                </a:ext>
              </a:extLst>
            </p:cNvPr>
            <p:cNvGrpSpPr/>
            <p:nvPr/>
          </p:nvGrpSpPr>
          <p:grpSpPr>
            <a:xfrm>
              <a:off x="5404640" y="6316428"/>
              <a:ext cx="228600" cy="228600"/>
              <a:chOff x="5265439" y="1782444"/>
              <a:chExt cx="228600" cy="228600"/>
            </a:xfrm>
          </p:grpSpPr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1AFB90B-39C0-CFCB-795B-DD0DB9F6FEF2}"/>
                  </a:ext>
                </a:extLst>
              </p:cNvPr>
              <p:cNvSpPr/>
              <p:nvPr/>
            </p:nvSpPr>
            <p:spPr>
              <a:xfrm>
                <a:off x="5265439" y="1782444"/>
                <a:ext cx="228600" cy="228600"/>
              </a:xfrm>
              <a:prstGeom prst="ellipse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1190" b="1"/>
              </a:p>
            </p:txBody>
          </p: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4757CDCB-485F-41C9-9BDE-AE4E12EEA4A2}"/>
                  </a:ext>
                </a:extLst>
              </p:cNvPr>
              <p:cNvGrpSpPr/>
              <p:nvPr/>
            </p:nvGrpSpPr>
            <p:grpSpPr>
              <a:xfrm>
                <a:off x="5306080" y="1844675"/>
                <a:ext cx="147318" cy="45719"/>
                <a:chOff x="5308600" y="1851025"/>
                <a:chExt cx="147318" cy="45719"/>
              </a:xfrm>
            </p:grpSpPr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9F16F7E0-C783-E519-16DA-C3B88C9268E9}"/>
                    </a:ext>
                  </a:extLst>
                </p:cNvPr>
                <p:cNvSpPr/>
                <p:nvPr/>
              </p:nvSpPr>
              <p:spPr>
                <a:xfrm>
                  <a:off x="5308600" y="1851025"/>
                  <a:ext cx="45719" cy="4571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1190" b="1"/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94E13A83-ED56-C6AF-9F1B-4ACB88A46295}"/>
                    </a:ext>
                  </a:extLst>
                </p:cNvPr>
                <p:cNvSpPr/>
                <p:nvPr/>
              </p:nvSpPr>
              <p:spPr>
                <a:xfrm>
                  <a:off x="5410199" y="1851025"/>
                  <a:ext cx="45719" cy="45719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1190" b="1"/>
                </a:p>
              </p:txBody>
            </p:sp>
          </p:grpSp>
          <p:sp>
            <p:nvSpPr>
              <p:cNvPr id="139" name="Block Arc 138">
                <a:extLst>
                  <a:ext uri="{FF2B5EF4-FFF2-40B4-BE49-F238E27FC236}">
                    <a16:creationId xmlns:a16="http://schemas.microsoft.com/office/drawing/2014/main" id="{53454853-929C-B3FA-08FF-44DDCFEB0A64}"/>
                  </a:ext>
                </a:extLst>
              </p:cNvPr>
              <p:cNvSpPr/>
              <p:nvPr/>
            </p:nvSpPr>
            <p:spPr>
              <a:xfrm rot="10800000">
                <a:off x="5302469" y="1851025"/>
                <a:ext cx="154540" cy="134829"/>
              </a:xfrm>
              <a:prstGeom prst="blockArc">
                <a:avLst>
                  <a:gd name="adj1" fmla="val 10800000"/>
                  <a:gd name="adj2" fmla="val 521302"/>
                  <a:gd name="adj3" fmla="val 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1190" b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2349C4F2-A599-34AF-1620-465497BF0B7F}"/>
              </a:ext>
            </a:extLst>
          </p:cNvPr>
          <p:cNvGrpSpPr/>
          <p:nvPr/>
        </p:nvGrpSpPr>
        <p:grpSpPr>
          <a:xfrm>
            <a:off x="2473425" y="1606078"/>
            <a:ext cx="2653290" cy="286582"/>
            <a:chOff x="3162926" y="3603849"/>
            <a:chExt cx="4012562" cy="433397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9FF97B0D-137F-4C0A-471C-A080165B7BD6}"/>
                </a:ext>
              </a:extLst>
            </p:cNvPr>
            <p:cNvSpPr txBox="1"/>
            <p:nvPr/>
          </p:nvSpPr>
          <p:spPr>
            <a:xfrm>
              <a:off x="3162926" y="3642204"/>
              <a:ext cx="4012562" cy="3490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TH" sz="900" b="1" dirty="0"/>
                <a:t>Predict new compound with </a:t>
              </a:r>
              <a:r>
                <a:rPr lang="en-TH" sz="900" b="1" dirty="0">
                  <a:solidFill>
                    <a:srgbClr val="FF0000"/>
                  </a:solidFill>
                </a:rPr>
                <a:t>Anchor</a:t>
              </a:r>
              <a:r>
                <a:rPr lang="en-TH" sz="900" b="1" dirty="0"/>
                <a:t> </a:t>
              </a:r>
              <a:r>
                <a:rPr lang="en-TH" sz="900" b="1" dirty="0">
                  <a:solidFill>
                    <a:srgbClr val="FF0000"/>
                  </a:solidFill>
                </a:rPr>
                <a:t>calibration</a:t>
              </a: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520A7EC-6BA2-FD88-9AA0-9EF351436028}"/>
                </a:ext>
              </a:extLst>
            </p:cNvPr>
            <p:cNvSpPr/>
            <p:nvPr/>
          </p:nvSpPr>
          <p:spPr>
            <a:xfrm>
              <a:off x="3180249" y="3603849"/>
              <a:ext cx="3952773" cy="4333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1190" b="1"/>
            </a:p>
          </p:txBody>
        </p:sp>
      </p:grpSp>
      <p:sp>
        <p:nvSpPr>
          <p:cNvPr id="179" name="Right Arrow 178">
            <a:extLst>
              <a:ext uri="{FF2B5EF4-FFF2-40B4-BE49-F238E27FC236}">
                <a16:creationId xmlns:a16="http://schemas.microsoft.com/office/drawing/2014/main" id="{FC545B20-8297-1665-F31A-CF0D01D82DB9}"/>
              </a:ext>
            </a:extLst>
          </p:cNvPr>
          <p:cNvSpPr/>
          <p:nvPr/>
        </p:nvSpPr>
        <p:spPr>
          <a:xfrm>
            <a:off x="2444587" y="700318"/>
            <a:ext cx="141862" cy="8967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sz="1190" b="1"/>
          </a:p>
        </p:txBody>
      </p: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F55C071F-4781-0125-D49A-CE0D80B536B9}"/>
              </a:ext>
            </a:extLst>
          </p:cNvPr>
          <p:cNvGrpSpPr/>
          <p:nvPr/>
        </p:nvGrpSpPr>
        <p:grpSpPr>
          <a:xfrm>
            <a:off x="4993136" y="1173557"/>
            <a:ext cx="2518640" cy="625760"/>
            <a:chOff x="2443977" y="4590499"/>
            <a:chExt cx="2556942" cy="635276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4775A2DF-B3BA-BD13-5573-CF3065A9CFD7}"/>
                </a:ext>
              </a:extLst>
            </p:cNvPr>
            <p:cNvSpPr txBox="1"/>
            <p:nvPr/>
          </p:nvSpPr>
          <p:spPr>
            <a:xfrm>
              <a:off x="2443977" y="4590499"/>
              <a:ext cx="2556942" cy="2343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TH" sz="900" b="1" dirty="0"/>
                <a:t>Calibration helped some cases, but not all</a:t>
              </a:r>
            </a:p>
          </p:txBody>
        </p: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9AE98BBA-2B9B-518E-90E6-71673D525210}"/>
                </a:ext>
              </a:extLst>
            </p:cNvPr>
            <p:cNvGrpSpPr/>
            <p:nvPr/>
          </p:nvGrpSpPr>
          <p:grpSpPr>
            <a:xfrm>
              <a:off x="2851341" y="4831358"/>
              <a:ext cx="1751186" cy="394417"/>
              <a:chOff x="2843054" y="4831358"/>
              <a:chExt cx="1751186" cy="394417"/>
            </a:xfrm>
          </p:grpSpPr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4528BF1F-04FE-B129-807E-E29AA824C9C5}"/>
                  </a:ext>
                </a:extLst>
              </p:cNvPr>
              <p:cNvSpPr/>
              <p:nvPr/>
            </p:nvSpPr>
            <p:spPr>
              <a:xfrm>
                <a:off x="2843054" y="4831358"/>
                <a:ext cx="394417" cy="39441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661" b="1" dirty="0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D6607959-66E7-222F-EDFA-28BFF76E9F9C}"/>
                  </a:ext>
                </a:extLst>
              </p:cNvPr>
              <p:cNvSpPr/>
              <p:nvPr/>
            </p:nvSpPr>
            <p:spPr>
              <a:xfrm>
                <a:off x="3295311" y="4831358"/>
                <a:ext cx="394417" cy="39441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661" b="1" dirty="0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B565C2E-89FA-F2C2-F29D-AC3D8ACE954B}"/>
                  </a:ext>
                </a:extLst>
              </p:cNvPr>
              <p:cNvSpPr/>
              <p:nvPr/>
            </p:nvSpPr>
            <p:spPr>
              <a:xfrm>
                <a:off x="3747568" y="4831358"/>
                <a:ext cx="394417" cy="394417"/>
              </a:xfrm>
              <a:prstGeom prst="rect">
                <a:avLst/>
              </a:prstGeom>
              <a:noFill/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661" b="1" dirty="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0A3DF0D4-054B-D95F-0A38-BE8462CF037D}"/>
                  </a:ext>
                </a:extLst>
              </p:cNvPr>
              <p:cNvSpPr/>
              <p:nvPr/>
            </p:nvSpPr>
            <p:spPr>
              <a:xfrm>
                <a:off x="4199823" y="4831358"/>
                <a:ext cx="394417" cy="39441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661" b="1" dirty="0"/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59C6470C-42AE-4884-A739-E3E805907B24}"/>
                  </a:ext>
                </a:extLst>
              </p:cNvPr>
              <p:cNvGrpSpPr/>
              <p:nvPr/>
            </p:nvGrpSpPr>
            <p:grpSpPr>
              <a:xfrm>
                <a:off x="2925962" y="4914266"/>
                <a:ext cx="228600" cy="228600"/>
                <a:chOff x="5265439" y="1782444"/>
                <a:chExt cx="228600" cy="228600"/>
              </a:xfrm>
            </p:grpSpPr>
            <p:sp>
              <p:nvSpPr>
                <p:cNvPr id="149" name="Oval 148">
                  <a:extLst>
                    <a:ext uri="{FF2B5EF4-FFF2-40B4-BE49-F238E27FC236}">
                      <a16:creationId xmlns:a16="http://schemas.microsoft.com/office/drawing/2014/main" id="{B1A24500-1812-3AD6-1292-7705BF283513}"/>
                    </a:ext>
                  </a:extLst>
                </p:cNvPr>
                <p:cNvSpPr/>
                <p:nvPr/>
              </p:nvSpPr>
              <p:spPr>
                <a:xfrm>
                  <a:off x="5265439" y="1782444"/>
                  <a:ext cx="228600" cy="228600"/>
                </a:xfrm>
                <a:prstGeom prst="ellipse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1190" b="1"/>
                </a:p>
              </p:txBody>
            </p:sp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E13DB34A-9FDB-498C-1F51-2E430C22D1BA}"/>
                    </a:ext>
                  </a:extLst>
                </p:cNvPr>
                <p:cNvGrpSpPr/>
                <p:nvPr/>
              </p:nvGrpSpPr>
              <p:grpSpPr>
                <a:xfrm>
                  <a:off x="5306080" y="1844675"/>
                  <a:ext cx="147318" cy="45719"/>
                  <a:chOff x="5308600" y="1851025"/>
                  <a:chExt cx="147318" cy="45719"/>
                </a:xfrm>
              </p:grpSpPr>
              <p:sp>
                <p:nvSpPr>
                  <p:cNvPr id="152" name="Oval 151">
                    <a:extLst>
                      <a:ext uri="{FF2B5EF4-FFF2-40B4-BE49-F238E27FC236}">
                        <a16:creationId xmlns:a16="http://schemas.microsoft.com/office/drawing/2014/main" id="{B7EB2C4C-79AF-C4CD-24B8-BD83CCFCA863}"/>
                      </a:ext>
                    </a:extLst>
                  </p:cNvPr>
                  <p:cNvSpPr/>
                  <p:nvPr/>
                </p:nvSpPr>
                <p:spPr>
                  <a:xfrm>
                    <a:off x="5308600" y="1851025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TH" sz="1190" b="1"/>
                  </a:p>
                </p:txBody>
              </p:sp>
              <p:sp>
                <p:nvSpPr>
                  <p:cNvPr id="153" name="Oval 152">
                    <a:extLst>
                      <a:ext uri="{FF2B5EF4-FFF2-40B4-BE49-F238E27FC236}">
                        <a16:creationId xmlns:a16="http://schemas.microsoft.com/office/drawing/2014/main" id="{C004C439-0B85-FAC0-3EEC-605E2F01EED5}"/>
                      </a:ext>
                    </a:extLst>
                  </p:cNvPr>
                  <p:cNvSpPr/>
                  <p:nvPr/>
                </p:nvSpPr>
                <p:spPr>
                  <a:xfrm>
                    <a:off x="5410199" y="1851025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TH" sz="1190" b="1"/>
                  </a:p>
                </p:txBody>
              </p:sp>
            </p:grpSp>
            <p:sp>
              <p:nvSpPr>
                <p:cNvPr id="151" name="Block Arc 150">
                  <a:extLst>
                    <a:ext uri="{FF2B5EF4-FFF2-40B4-BE49-F238E27FC236}">
                      <a16:creationId xmlns:a16="http://schemas.microsoft.com/office/drawing/2014/main" id="{9B59BF30-F00C-B85C-899F-BAF388F308C4}"/>
                    </a:ext>
                  </a:extLst>
                </p:cNvPr>
                <p:cNvSpPr/>
                <p:nvPr/>
              </p:nvSpPr>
              <p:spPr>
                <a:xfrm rot="10800000">
                  <a:off x="5302469" y="1851025"/>
                  <a:ext cx="154540" cy="134829"/>
                </a:xfrm>
                <a:prstGeom prst="blockArc">
                  <a:avLst>
                    <a:gd name="adj1" fmla="val 10800000"/>
                    <a:gd name="adj2" fmla="val 521302"/>
                    <a:gd name="adj3" fmla="val 0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1190" b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ED2B8AF7-C7D2-5776-38C4-B1D4723D273C}"/>
                  </a:ext>
                </a:extLst>
              </p:cNvPr>
              <p:cNvGrpSpPr/>
              <p:nvPr/>
            </p:nvGrpSpPr>
            <p:grpSpPr>
              <a:xfrm>
                <a:off x="3378219" y="4914266"/>
                <a:ext cx="228600" cy="228600"/>
                <a:chOff x="5265439" y="1782444"/>
                <a:chExt cx="228600" cy="228600"/>
              </a:xfrm>
            </p:grpSpPr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50C88A33-312A-D89B-BC88-26E9B75BC042}"/>
                    </a:ext>
                  </a:extLst>
                </p:cNvPr>
                <p:cNvSpPr/>
                <p:nvPr/>
              </p:nvSpPr>
              <p:spPr>
                <a:xfrm>
                  <a:off x="5265439" y="1782444"/>
                  <a:ext cx="228600" cy="228600"/>
                </a:xfrm>
                <a:prstGeom prst="ellipse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1190" b="1"/>
                </a:p>
              </p:txBody>
            </p:sp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5221E668-42C0-E473-E179-94DEF35C9C26}"/>
                    </a:ext>
                  </a:extLst>
                </p:cNvPr>
                <p:cNvGrpSpPr/>
                <p:nvPr/>
              </p:nvGrpSpPr>
              <p:grpSpPr>
                <a:xfrm>
                  <a:off x="5306080" y="1844675"/>
                  <a:ext cx="147318" cy="45719"/>
                  <a:chOff x="5308600" y="1851025"/>
                  <a:chExt cx="147318" cy="45719"/>
                </a:xfrm>
              </p:grpSpPr>
              <p:sp>
                <p:nvSpPr>
                  <p:cNvPr id="158" name="Oval 157">
                    <a:extLst>
                      <a:ext uri="{FF2B5EF4-FFF2-40B4-BE49-F238E27FC236}">
                        <a16:creationId xmlns:a16="http://schemas.microsoft.com/office/drawing/2014/main" id="{3502D4F9-368A-9255-CA0F-18BB0CF0A0B7}"/>
                      </a:ext>
                    </a:extLst>
                  </p:cNvPr>
                  <p:cNvSpPr/>
                  <p:nvPr/>
                </p:nvSpPr>
                <p:spPr>
                  <a:xfrm>
                    <a:off x="5308600" y="1851025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TH" sz="1190" b="1"/>
                  </a:p>
                </p:txBody>
              </p:sp>
              <p:sp>
                <p:nvSpPr>
                  <p:cNvPr id="159" name="Oval 158">
                    <a:extLst>
                      <a:ext uri="{FF2B5EF4-FFF2-40B4-BE49-F238E27FC236}">
                        <a16:creationId xmlns:a16="http://schemas.microsoft.com/office/drawing/2014/main" id="{75347502-B5BA-DC69-BF6F-A385A419A3CE}"/>
                      </a:ext>
                    </a:extLst>
                  </p:cNvPr>
                  <p:cNvSpPr/>
                  <p:nvPr/>
                </p:nvSpPr>
                <p:spPr>
                  <a:xfrm>
                    <a:off x="5410199" y="1851025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TH" sz="1190" b="1"/>
                  </a:p>
                </p:txBody>
              </p:sp>
            </p:grpSp>
            <p:sp>
              <p:nvSpPr>
                <p:cNvPr id="157" name="Block Arc 156">
                  <a:extLst>
                    <a:ext uri="{FF2B5EF4-FFF2-40B4-BE49-F238E27FC236}">
                      <a16:creationId xmlns:a16="http://schemas.microsoft.com/office/drawing/2014/main" id="{8BCD7815-B039-B4E1-7401-C7F5E2DEBAF9}"/>
                    </a:ext>
                  </a:extLst>
                </p:cNvPr>
                <p:cNvSpPr/>
                <p:nvPr/>
              </p:nvSpPr>
              <p:spPr>
                <a:xfrm rot="10800000">
                  <a:off x="5302469" y="1851025"/>
                  <a:ext cx="154540" cy="134829"/>
                </a:xfrm>
                <a:prstGeom prst="blockArc">
                  <a:avLst>
                    <a:gd name="adj1" fmla="val 10800000"/>
                    <a:gd name="adj2" fmla="val 521302"/>
                    <a:gd name="adj3" fmla="val 0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1190" b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9AFCECD3-59B6-58F1-8FC9-35F87143DD6C}"/>
                  </a:ext>
                </a:extLst>
              </p:cNvPr>
              <p:cNvGrpSpPr/>
              <p:nvPr/>
            </p:nvGrpSpPr>
            <p:grpSpPr>
              <a:xfrm>
                <a:off x="3830475" y="4914266"/>
                <a:ext cx="228600" cy="228600"/>
                <a:chOff x="5265439" y="1782444"/>
                <a:chExt cx="228600" cy="228600"/>
              </a:xfrm>
            </p:grpSpPr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8C7E2069-C0E7-FB5E-26E2-ABC45982BA7E}"/>
                    </a:ext>
                  </a:extLst>
                </p:cNvPr>
                <p:cNvSpPr/>
                <p:nvPr/>
              </p:nvSpPr>
              <p:spPr>
                <a:xfrm>
                  <a:off x="5265439" y="1782444"/>
                  <a:ext cx="228600" cy="228600"/>
                </a:xfrm>
                <a:prstGeom prst="ellipse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1190" b="1"/>
                </a:p>
              </p:txBody>
            </p:sp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6AB49890-D80B-1426-51DA-B7F16092C9F7}"/>
                    </a:ext>
                  </a:extLst>
                </p:cNvPr>
                <p:cNvGrpSpPr/>
                <p:nvPr/>
              </p:nvGrpSpPr>
              <p:grpSpPr>
                <a:xfrm>
                  <a:off x="5306080" y="1844675"/>
                  <a:ext cx="147318" cy="45719"/>
                  <a:chOff x="5308600" y="1851025"/>
                  <a:chExt cx="147318" cy="45719"/>
                </a:xfrm>
              </p:grpSpPr>
              <p:sp>
                <p:nvSpPr>
                  <p:cNvPr id="164" name="Oval 163">
                    <a:extLst>
                      <a:ext uri="{FF2B5EF4-FFF2-40B4-BE49-F238E27FC236}">
                        <a16:creationId xmlns:a16="http://schemas.microsoft.com/office/drawing/2014/main" id="{6277DB3B-55BF-A0B8-734E-176AF8A59D34}"/>
                      </a:ext>
                    </a:extLst>
                  </p:cNvPr>
                  <p:cNvSpPr/>
                  <p:nvPr/>
                </p:nvSpPr>
                <p:spPr>
                  <a:xfrm>
                    <a:off x="5308600" y="1851025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TH" sz="1190" b="1"/>
                  </a:p>
                </p:txBody>
              </p:sp>
              <p:sp>
                <p:nvSpPr>
                  <p:cNvPr id="165" name="Oval 164">
                    <a:extLst>
                      <a:ext uri="{FF2B5EF4-FFF2-40B4-BE49-F238E27FC236}">
                        <a16:creationId xmlns:a16="http://schemas.microsoft.com/office/drawing/2014/main" id="{17FA0AB5-E2F3-425B-E747-FC79CBAD8CBB}"/>
                      </a:ext>
                    </a:extLst>
                  </p:cNvPr>
                  <p:cNvSpPr/>
                  <p:nvPr/>
                </p:nvSpPr>
                <p:spPr>
                  <a:xfrm>
                    <a:off x="5410199" y="1851025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TH" sz="1190" b="1"/>
                  </a:p>
                </p:txBody>
              </p:sp>
            </p:grpSp>
            <p:sp>
              <p:nvSpPr>
                <p:cNvPr id="163" name="Block Arc 162">
                  <a:extLst>
                    <a:ext uri="{FF2B5EF4-FFF2-40B4-BE49-F238E27FC236}">
                      <a16:creationId xmlns:a16="http://schemas.microsoft.com/office/drawing/2014/main" id="{4F10AACD-0AB1-7E3D-77B3-3B95F273ECD4}"/>
                    </a:ext>
                  </a:extLst>
                </p:cNvPr>
                <p:cNvSpPr/>
                <p:nvPr/>
              </p:nvSpPr>
              <p:spPr>
                <a:xfrm rot="10800000">
                  <a:off x="5302469" y="1851025"/>
                  <a:ext cx="154540" cy="134829"/>
                </a:xfrm>
                <a:prstGeom prst="blockArc">
                  <a:avLst>
                    <a:gd name="adj1" fmla="val 10800000"/>
                    <a:gd name="adj2" fmla="val 521302"/>
                    <a:gd name="adj3" fmla="val 0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1190" b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DEF8657B-0DF8-ABA3-3E94-0112E7B723C8}"/>
                  </a:ext>
                </a:extLst>
              </p:cNvPr>
              <p:cNvGrpSpPr/>
              <p:nvPr/>
            </p:nvGrpSpPr>
            <p:grpSpPr>
              <a:xfrm>
                <a:off x="4282731" y="4914266"/>
                <a:ext cx="228600" cy="252149"/>
                <a:chOff x="5265439" y="1782444"/>
                <a:chExt cx="228600" cy="252149"/>
              </a:xfrm>
            </p:grpSpPr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D8057489-0359-0A1D-8D8C-BAAE6352C7A6}"/>
                    </a:ext>
                  </a:extLst>
                </p:cNvPr>
                <p:cNvSpPr/>
                <p:nvPr/>
              </p:nvSpPr>
              <p:spPr>
                <a:xfrm>
                  <a:off x="5265439" y="1782444"/>
                  <a:ext cx="228600" cy="2286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1190" b="1"/>
                </a:p>
              </p:txBody>
            </p:sp>
            <p:grpSp>
              <p:nvGrpSpPr>
                <p:cNvPr id="168" name="Group 167">
                  <a:extLst>
                    <a:ext uri="{FF2B5EF4-FFF2-40B4-BE49-F238E27FC236}">
                      <a16:creationId xmlns:a16="http://schemas.microsoft.com/office/drawing/2014/main" id="{BCA06E8C-BB72-A659-33B5-55660DDD2D54}"/>
                    </a:ext>
                  </a:extLst>
                </p:cNvPr>
                <p:cNvGrpSpPr/>
                <p:nvPr/>
              </p:nvGrpSpPr>
              <p:grpSpPr>
                <a:xfrm>
                  <a:off x="5306080" y="1844675"/>
                  <a:ext cx="147318" cy="45719"/>
                  <a:chOff x="5308600" y="1851025"/>
                  <a:chExt cx="147318" cy="45719"/>
                </a:xfrm>
              </p:grpSpPr>
              <p:sp>
                <p:nvSpPr>
                  <p:cNvPr id="170" name="Oval 169">
                    <a:extLst>
                      <a:ext uri="{FF2B5EF4-FFF2-40B4-BE49-F238E27FC236}">
                        <a16:creationId xmlns:a16="http://schemas.microsoft.com/office/drawing/2014/main" id="{1A2A8DFB-A767-F8AD-ED54-35F0A466DC2C}"/>
                      </a:ext>
                    </a:extLst>
                  </p:cNvPr>
                  <p:cNvSpPr/>
                  <p:nvPr/>
                </p:nvSpPr>
                <p:spPr>
                  <a:xfrm>
                    <a:off x="5308600" y="1851025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TH" sz="1190" b="1"/>
                  </a:p>
                </p:txBody>
              </p: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29740762-2F31-00B3-3A84-8AA4E1BCD3A7}"/>
                      </a:ext>
                    </a:extLst>
                  </p:cNvPr>
                  <p:cNvSpPr/>
                  <p:nvPr/>
                </p:nvSpPr>
                <p:spPr>
                  <a:xfrm>
                    <a:off x="5410199" y="1851025"/>
                    <a:ext cx="45719" cy="45719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TH" sz="1190" b="1"/>
                  </a:p>
                </p:txBody>
              </p:sp>
            </p:grpSp>
            <p:sp>
              <p:nvSpPr>
                <p:cNvPr id="169" name="Block Arc 168">
                  <a:extLst>
                    <a:ext uri="{FF2B5EF4-FFF2-40B4-BE49-F238E27FC236}">
                      <a16:creationId xmlns:a16="http://schemas.microsoft.com/office/drawing/2014/main" id="{3423C1CE-4CBE-DD78-A153-E7071F4A41B4}"/>
                    </a:ext>
                  </a:extLst>
                </p:cNvPr>
                <p:cNvSpPr/>
                <p:nvPr/>
              </p:nvSpPr>
              <p:spPr>
                <a:xfrm rot="21443055">
                  <a:off x="5327461" y="1900940"/>
                  <a:ext cx="104556" cy="133653"/>
                </a:xfrm>
                <a:prstGeom prst="blockArc">
                  <a:avLst>
                    <a:gd name="adj1" fmla="val 10800000"/>
                    <a:gd name="adj2" fmla="val 521302"/>
                    <a:gd name="adj3" fmla="val 0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1190" b="1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2" name="Right Arrow 1">
            <a:extLst>
              <a:ext uri="{FF2B5EF4-FFF2-40B4-BE49-F238E27FC236}">
                <a16:creationId xmlns:a16="http://schemas.microsoft.com/office/drawing/2014/main" id="{EDDD4D2A-7D3D-4CAC-0AA6-6171E21C4B56}"/>
              </a:ext>
            </a:extLst>
          </p:cNvPr>
          <p:cNvSpPr/>
          <p:nvPr/>
        </p:nvSpPr>
        <p:spPr>
          <a:xfrm>
            <a:off x="5160372" y="1711562"/>
            <a:ext cx="141862" cy="8967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sz="1190" b="1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53F6936F-83AD-693A-5987-B0C741B55387}"/>
              </a:ext>
            </a:extLst>
          </p:cNvPr>
          <p:cNvSpPr/>
          <p:nvPr/>
        </p:nvSpPr>
        <p:spPr>
          <a:xfrm>
            <a:off x="3697812" y="697541"/>
            <a:ext cx="1080000" cy="8967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 sz="1190" b="1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D15F1B3-3CCF-CD48-DCFE-12BC7EC9A566}"/>
              </a:ext>
            </a:extLst>
          </p:cNvPr>
          <p:cNvGrpSpPr/>
          <p:nvPr/>
        </p:nvGrpSpPr>
        <p:grpSpPr>
          <a:xfrm>
            <a:off x="4526905" y="953042"/>
            <a:ext cx="573295" cy="528460"/>
            <a:chOff x="7721870" y="1049982"/>
            <a:chExt cx="573295" cy="528460"/>
          </a:xfrm>
        </p:grpSpPr>
        <p:sp>
          <p:nvSpPr>
            <p:cNvPr id="181" name="Right Arrow 180">
              <a:extLst>
                <a:ext uri="{FF2B5EF4-FFF2-40B4-BE49-F238E27FC236}">
                  <a16:creationId xmlns:a16="http://schemas.microsoft.com/office/drawing/2014/main" id="{D22937D5-F986-8FB3-DBF2-E20F06F3CF84}"/>
                </a:ext>
              </a:extLst>
            </p:cNvPr>
            <p:cNvSpPr/>
            <p:nvPr/>
          </p:nvSpPr>
          <p:spPr>
            <a:xfrm rot="5400000">
              <a:off x="7604708" y="1371604"/>
              <a:ext cx="324000" cy="89676"/>
            </a:xfrm>
            <a:prstGeom prst="right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1190" b="1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CD9EA717-B45D-2416-E3F6-BD10808D6B8D}"/>
                </a:ext>
              </a:extLst>
            </p:cNvPr>
            <p:cNvSpPr/>
            <p:nvPr/>
          </p:nvSpPr>
          <p:spPr>
            <a:xfrm rot="5400000">
              <a:off x="7988650" y="980521"/>
              <a:ext cx="51854" cy="54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1190" b="1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6F85CA-7BE0-FE51-73E6-46A076F15C07}"/>
                </a:ext>
              </a:extLst>
            </p:cNvPr>
            <p:cNvSpPr/>
            <p:nvPr/>
          </p:nvSpPr>
          <p:spPr>
            <a:xfrm rot="10800000">
              <a:off x="8243311" y="1049982"/>
              <a:ext cx="51854" cy="216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1190" b="1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E45C15A-22FF-18BE-5E0C-437BA8AEAA14}"/>
              </a:ext>
            </a:extLst>
          </p:cNvPr>
          <p:cNvGrpSpPr/>
          <p:nvPr/>
        </p:nvGrpSpPr>
        <p:grpSpPr>
          <a:xfrm>
            <a:off x="235142" y="229872"/>
            <a:ext cx="2153850" cy="902248"/>
            <a:chOff x="3584104" y="481520"/>
            <a:chExt cx="2153850" cy="902248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9D699C43-CFA9-5B08-B46B-397F61765337}"/>
                </a:ext>
              </a:extLst>
            </p:cNvPr>
            <p:cNvGrpSpPr/>
            <p:nvPr/>
          </p:nvGrpSpPr>
          <p:grpSpPr>
            <a:xfrm>
              <a:off x="3584104" y="481520"/>
              <a:ext cx="2153850" cy="902248"/>
              <a:chOff x="147158" y="527624"/>
              <a:chExt cx="3257258" cy="1364467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A6F3F973-02A1-455E-5F33-A63F6F2A52C2}"/>
                  </a:ext>
                </a:extLst>
              </p:cNvPr>
              <p:cNvGrpSpPr/>
              <p:nvPr/>
            </p:nvGrpSpPr>
            <p:grpSpPr>
              <a:xfrm>
                <a:off x="477802" y="781706"/>
                <a:ext cx="2505802" cy="941378"/>
                <a:chOff x="2371507" y="840825"/>
                <a:chExt cx="4454759" cy="1673561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0E733A58-E8E6-3697-4236-5ACAC8EE5229}"/>
                    </a:ext>
                  </a:extLst>
                </p:cNvPr>
                <p:cNvSpPr/>
                <p:nvPr/>
              </p:nvSpPr>
              <p:spPr>
                <a:xfrm>
                  <a:off x="2472408" y="1312189"/>
                  <a:ext cx="1184856" cy="1184856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 dirty="0"/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A3FD53EA-3E70-882F-A0FF-4FC13EBDC8C6}"/>
                    </a:ext>
                  </a:extLst>
                </p:cNvPr>
                <p:cNvGrpSpPr/>
                <p:nvPr/>
              </p:nvGrpSpPr>
              <p:grpSpPr>
                <a:xfrm>
                  <a:off x="3214314" y="1509702"/>
                  <a:ext cx="198782" cy="789830"/>
                  <a:chOff x="4474596" y="1590260"/>
                  <a:chExt cx="198782" cy="789830"/>
                </a:xfrm>
              </p:grpSpPr>
              <p:cxnSp>
                <p:nvCxnSpPr>
                  <p:cNvPr id="6" name="Straight Connector 5">
                    <a:extLst>
                      <a:ext uri="{FF2B5EF4-FFF2-40B4-BE49-F238E27FC236}">
                        <a16:creationId xmlns:a16="http://schemas.microsoft.com/office/drawing/2014/main" id="{FB2243B3-1BFF-358D-3D05-46713414B32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74596" y="1590260"/>
                    <a:ext cx="198782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" name="Straight Connector 6">
                    <a:extLst>
                      <a:ext uri="{FF2B5EF4-FFF2-40B4-BE49-F238E27FC236}">
                        <a16:creationId xmlns:a16="http://schemas.microsoft.com/office/drawing/2014/main" id="{F2107FB5-E8D7-D27C-28EF-E749B711DDC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74596" y="1985175"/>
                    <a:ext cx="198782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" name="Straight Connector 7">
                    <a:extLst>
                      <a:ext uri="{FF2B5EF4-FFF2-40B4-BE49-F238E27FC236}">
                        <a16:creationId xmlns:a16="http://schemas.microsoft.com/office/drawing/2014/main" id="{9AAB47B4-D4EE-82FE-0B17-423ACF2338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74596" y="2380090"/>
                    <a:ext cx="198782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Straight Connector 9">
                    <a:extLst>
                      <a:ext uri="{FF2B5EF4-FFF2-40B4-BE49-F238E27FC236}">
                        <a16:creationId xmlns:a16="http://schemas.microsoft.com/office/drawing/2014/main" id="{5DD99027-A99D-01B4-D8D9-E575DB9D99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73987" y="1590260"/>
                    <a:ext cx="0" cy="78983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14F740B3-1EFA-79DF-6252-5702CF1C794F}"/>
                    </a:ext>
                  </a:extLst>
                </p:cNvPr>
                <p:cNvSpPr/>
                <p:nvPr/>
              </p:nvSpPr>
              <p:spPr>
                <a:xfrm>
                  <a:off x="3214314" y="1609376"/>
                  <a:ext cx="198782" cy="19878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D70EB90-2AF3-9678-404B-362C3820F532}"/>
                    </a:ext>
                  </a:extLst>
                </p:cNvPr>
                <p:cNvSpPr txBox="1"/>
                <p:nvPr/>
              </p:nvSpPr>
              <p:spPr>
                <a:xfrm>
                  <a:off x="2371507" y="840825"/>
                  <a:ext cx="1423069" cy="5216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TH" sz="661" b="1" dirty="0">
                      <a:solidFill>
                        <a:srgbClr val="00B050"/>
                      </a:solidFill>
                    </a:rPr>
                    <a:t>Source A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C0777B9-487C-4B1C-2C72-74DC913B73A2}"/>
                    </a:ext>
                  </a:extLst>
                </p:cNvPr>
                <p:cNvSpPr txBox="1"/>
                <p:nvPr/>
              </p:nvSpPr>
              <p:spPr>
                <a:xfrm>
                  <a:off x="2444869" y="2047211"/>
                  <a:ext cx="1013644" cy="4671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29" b="1" dirty="0"/>
                    <a:t>L</a:t>
                  </a:r>
                  <a:r>
                    <a:rPr lang="en-TH" sz="529" b="1" dirty="0"/>
                    <a:t>og K</a:t>
                  </a:r>
                  <a:r>
                    <a:rPr lang="en-TH" sz="529" b="1" baseline="-25000" dirty="0"/>
                    <a:t>p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A1E47F0-388B-BA69-82E8-10DDC4A0061E}"/>
                    </a:ext>
                  </a:extLst>
                </p:cNvPr>
                <p:cNvSpPr/>
                <p:nvPr/>
              </p:nvSpPr>
              <p:spPr>
                <a:xfrm>
                  <a:off x="3977479" y="1312189"/>
                  <a:ext cx="1184856" cy="1184856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 dirty="0"/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FB9E524C-D8EF-5CC1-9CE9-5211E049897E}"/>
                    </a:ext>
                  </a:extLst>
                </p:cNvPr>
                <p:cNvGrpSpPr/>
                <p:nvPr/>
              </p:nvGrpSpPr>
              <p:grpSpPr>
                <a:xfrm>
                  <a:off x="4719385" y="1509702"/>
                  <a:ext cx="198782" cy="789830"/>
                  <a:chOff x="4474596" y="1590260"/>
                  <a:chExt cx="198782" cy="789830"/>
                </a:xfrm>
              </p:grpSpPr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5915B240-32B0-ACC1-1E43-DD3506270DF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74596" y="1590260"/>
                    <a:ext cx="198782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276237F2-1043-A239-A532-5126F173B8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74596" y="1985175"/>
                    <a:ext cx="198782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5FED8A69-78BF-57DF-3A3D-3F7A4921EA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74596" y="2380090"/>
                    <a:ext cx="198782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4A6801E8-0924-EADE-C533-187E30F362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73987" y="1590260"/>
                    <a:ext cx="0" cy="78983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5681AE06-16F5-C2B5-8F1C-4C1419909F57}"/>
                    </a:ext>
                  </a:extLst>
                </p:cNvPr>
                <p:cNvSpPr/>
                <p:nvPr/>
              </p:nvSpPr>
              <p:spPr>
                <a:xfrm>
                  <a:off x="4719385" y="2002684"/>
                  <a:ext cx="198782" cy="19878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1B68862-5865-1EBE-513F-18977FE53352}"/>
                    </a:ext>
                  </a:extLst>
                </p:cNvPr>
                <p:cNvSpPr txBox="1"/>
                <p:nvPr/>
              </p:nvSpPr>
              <p:spPr>
                <a:xfrm>
                  <a:off x="3878732" y="840825"/>
                  <a:ext cx="1423069" cy="5216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TH" sz="661" b="1" dirty="0">
                      <a:solidFill>
                        <a:srgbClr val="00B050"/>
                      </a:solidFill>
                    </a:rPr>
                    <a:t>Source B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E49776-4A43-BD6A-901B-2F222F2CBFC4}"/>
                    </a:ext>
                  </a:extLst>
                </p:cNvPr>
                <p:cNvSpPr txBox="1"/>
                <p:nvPr/>
              </p:nvSpPr>
              <p:spPr>
                <a:xfrm>
                  <a:off x="3949938" y="2047211"/>
                  <a:ext cx="1013644" cy="4671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29" b="1" dirty="0"/>
                    <a:t>L</a:t>
                  </a:r>
                  <a:r>
                    <a:rPr lang="en-TH" sz="529" b="1" dirty="0"/>
                    <a:t>og K</a:t>
                  </a:r>
                  <a:r>
                    <a:rPr lang="en-TH" sz="529" b="1" baseline="-25000" dirty="0"/>
                    <a:t>p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1EFD4A2B-E854-BA47-19BB-6B2C003FEC06}"/>
                    </a:ext>
                  </a:extLst>
                </p:cNvPr>
                <p:cNvSpPr/>
                <p:nvPr/>
              </p:nvSpPr>
              <p:spPr>
                <a:xfrm>
                  <a:off x="5482550" y="1312189"/>
                  <a:ext cx="1184856" cy="1184856"/>
                </a:xfrm>
                <a:prstGeom prst="rect">
                  <a:avLst/>
                </a:prstGeom>
                <a:noFill/>
                <a:ln w="38100"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 dirty="0"/>
                </a:p>
              </p:txBody>
            </p: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A23E4F01-6002-8AB1-BBA8-35817D575C9E}"/>
                    </a:ext>
                  </a:extLst>
                </p:cNvPr>
                <p:cNvGrpSpPr/>
                <p:nvPr/>
              </p:nvGrpSpPr>
              <p:grpSpPr>
                <a:xfrm>
                  <a:off x="6224456" y="1509702"/>
                  <a:ext cx="198782" cy="789830"/>
                  <a:chOff x="4474596" y="1590260"/>
                  <a:chExt cx="198782" cy="789830"/>
                </a:xfrm>
              </p:grpSpPr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70D77DAC-F57E-B9F5-BCBE-F77585E6B7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74596" y="1590260"/>
                    <a:ext cx="198782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781649B7-A0CD-927B-A7BA-E1A604DF7D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74596" y="1985175"/>
                    <a:ext cx="198782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77526551-1476-C348-7B1F-D7D8776B7A3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474596" y="2380090"/>
                    <a:ext cx="198782" cy="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BD526E9F-12A6-FD71-BEC3-FB2CDE1B49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573987" y="1590260"/>
                    <a:ext cx="0" cy="78983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9EC06B05-FC91-0440-CAA7-9B3767B74E9B}"/>
                    </a:ext>
                  </a:extLst>
                </p:cNvPr>
                <p:cNvSpPr/>
                <p:nvPr/>
              </p:nvSpPr>
              <p:spPr>
                <a:xfrm>
                  <a:off x="6224456" y="1700038"/>
                  <a:ext cx="198782" cy="19878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TH" sz="661" b="1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641B009-3874-7FD8-9939-67AC0E5C9ED5}"/>
                    </a:ext>
                  </a:extLst>
                </p:cNvPr>
                <p:cNvSpPr txBox="1"/>
                <p:nvPr/>
              </p:nvSpPr>
              <p:spPr>
                <a:xfrm>
                  <a:off x="5385958" y="840825"/>
                  <a:ext cx="1440308" cy="52164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TH" sz="661" b="1" dirty="0">
                      <a:solidFill>
                        <a:srgbClr val="00B050"/>
                      </a:solidFill>
                    </a:rPr>
                    <a:t>Source C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2D80843-7A21-4692-278D-E561539C53F7}"/>
                    </a:ext>
                  </a:extLst>
                </p:cNvPr>
                <p:cNvSpPr txBox="1"/>
                <p:nvPr/>
              </p:nvSpPr>
              <p:spPr>
                <a:xfrm>
                  <a:off x="5455010" y="2047211"/>
                  <a:ext cx="1013644" cy="4671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529" b="1" dirty="0"/>
                    <a:t>L</a:t>
                  </a:r>
                  <a:r>
                    <a:rPr lang="en-TH" sz="529" b="1" dirty="0"/>
                    <a:t>og K</a:t>
                  </a:r>
                  <a:r>
                    <a:rPr lang="en-TH" sz="529" b="1" baseline="-25000" dirty="0"/>
                    <a:t>p</a:t>
                  </a:r>
                </a:p>
              </p:txBody>
            </p:sp>
          </p:grp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6C86E22-FF72-E8F7-03C0-3FD4E412F54D}"/>
                  </a:ext>
                </a:extLst>
              </p:cNvPr>
              <p:cNvSpPr/>
              <p:nvPr/>
            </p:nvSpPr>
            <p:spPr>
              <a:xfrm>
                <a:off x="147158" y="527624"/>
                <a:ext cx="3174198" cy="136446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TH" sz="661" b="1"/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6733F92-7ED2-8D4F-80B6-580EBA202214}"/>
                  </a:ext>
                </a:extLst>
              </p:cNvPr>
              <p:cNvSpPr txBox="1"/>
              <p:nvPr/>
            </p:nvSpPr>
            <p:spPr>
              <a:xfrm>
                <a:off x="349420" y="557805"/>
                <a:ext cx="3054996" cy="325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TH" sz="800" b="1" dirty="0"/>
                  <a:t>Same compound, varied reported logK</a:t>
                </a:r>
                <a:r>
                  <a:rPr lang="en-TH" sz="800" b="1" baseline="-25000" dirty="0"/>
                  <a:t>p</a:t>
                </a:r>
              </a:p>
            </p:txBody>
          </p: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0CAA742-D18F-4220-A9F7-9DD832EC33B2}"/>
                </a:ext>
              </a:extLst>
            </p:cNvPr>
            <p:cNvSpPr/>
            <p:nvPr/>
          </p:nvSpPr>
          <p:spPr>
            <a:xfrm>
              <a:off x="3681792" y="567146"/>
              <a:ext cx="73937" cy="739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TH" sz="661" b="1"/>
            </a:p>
          </p:txBody>
        </p:sp>
      </p:grpSp>
    </p:spTree>
    <p:extLst>
      <p:ext uri="{BB962C8B-B14F-4D97-AF65-F5344CB8AC3E}">
        <p14:creationId xmlns:p14="http://schemas.microsoft.com/office/powerpoint/2010/main" val="1458138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438</TotalTime>
  <Words>74</Words>
  <Application>Microsoft Macintosh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ピアンサム　チャヤダ</dc:creator>
  <cp:lastModifiedBy>ピアンサム　チャヤダ</cp:lastModifiedBy>
  <cp:revision>43</cp:revision>
  <dcterms:created xsi:type="dcterms:W3CDTF">2026-10-21T14:59:51Z</dcterms:created>
  <dcterms:modified xsi:type="dcterms:W3CDTF">2026-10-23T16:34:50Z</dcterms:modified>
</cp:coreProperties>
</file>